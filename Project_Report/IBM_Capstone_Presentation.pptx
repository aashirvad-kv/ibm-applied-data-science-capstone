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5F5F5"/>
                </a:solidFill>
                <a:latin typeface="Segoe UI"/>
              </a:defRPr>
            </a:pPr>
            <a:r>
              <a:t>SpaceX Falcon 9 First Stage Landing Prediction</a:t>
            </a:r>
          </a:p>
          <a:p>
            <a:pPr>
              <a:spcBef>
                <a:spcPts val="1000"/>
              </a:spcBef>
              <a:defRPr sz="2000">
                <a:solidFill>
                  <a:srgbClr val="DC1E1E"/>
                </a:solidFill>
                <a:latin typeface="Segoe UI"/>
              </a:defRPr>
            </a:pPr>
            <a:r>
              <a:t>IBM Applied Data Science Capstone Presentation</a:t>
            </a:r>
          </a:p>
          <a:p>
            <a:pPr>
              <a:spcBef>
                <a:spcPts val="2000"/>
              </a:spcBef>
              <a:defRPr sz="1400">
                <a:solidFill>
                  <a:srgbClr val="B9B9B9"/>
                </a:solidFill>
                <a:latin typeface="Segoe UI"/>
              </a:defRPr>
            </a:pPr>
            <a:r>
              <a:t>Prepared by AaShIrVaD-kV |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1E1E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Segoe UI"/>
              </a:defRPr>
            </a:pPr>
            <a:r>
              <a:t>Project Context &amp;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DC1E1E"/>
          </a:solidFill>
          <a:ln>
            <a:solidFill>
              <a:srgbClr val="DC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Core Goal:</a:t>
            </a:r>
            <a:r>
              <a:rPr b="0" sz="1500">
                <a:solidFill>
                  <a:srgbClr val="B9B9B9"/>
                </a:solidFill>
                <a:latin typeface="Segoe UI"/>
              </a:rPr>
              <a:t> Predict whether the Falcon 9 first stage booster will land successfully.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Reusable Systems:</a:t>
            </a:r>
            <a:r>
              <a:rPr b="0" sz="1500">
                <a:solidFill>
                  <a:srgbClr val="B9B9B9"/>
                </a:solidFill>
                <a:latin typeface="Segoe UI"/>
              </a:rPr>
              <a:t> Recovering first stages saves SpaceX millions per launch (~$62M vs competitors' $165M+).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Strategic Value:</a:t>
            </a:r>
            <a:r>
              <a:rPr b="0" sz="1500">
                <a:solidFill>
                  <a:srgbClr val="B9B9B9"/>
                </a:solidFill>
                <a:latin typeface="Segoe UI"/>
              </a:rPr>
              <a:t> Allows competitors to estimate launch bidding costs and insurances.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1E1E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Segoe UI"/>
              </a:defRPr>
            </a:pPr>
            <a:r>
              <a:t>Executive Summary: Objective &amp;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DC1E1E"/>
          </a:solidFill>
          <a:ln>
            <a:solidFill>
              <a:srgbClr val="DC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Ingestion Pipeline:</a:t>
            </a:r>
            <a:r>
              <a:rPr b="0" sz="1500">
                <a:solidFill>
                  <a:srgbClr val="B9B9B9"/>
                </a:solidFill>
                <a:latin typeface="Segoe UI"/>
              </a:rPr>
              <a:t> Cleaned API response data and scraped flight tables into 90 records.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GIS Proximity:</a:t>
            </a:r>
            <a:r>
              <a:rPr b="0" sz="1500">
                <a:solidFill>
                  <a:srgbClr val="B9B9B9"/>
                </a:solidFill>
                <a:latin typeface="Segoe UI"/>
              </a:rPr>
              <a:t> Analyzed launch site coordinates relative to coastlines and transportation facilities.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Machine Learning:</a:t>
            </a:r>
            <a:r>
              <a:rPr b="0" sz="1500">
                <a:solidFill>
                  <a:srgbClr val="B9B9B9"/>
                </a:solidFill>
                <a:latin typeface="Segoe UI"/>
              </a:rPr>
              <a:t> Tuned 4 classifiers using GridSearchCV to optimize landing predictions.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1E1E"/>
                </a:solidFill>
                <a:latin typeface="Segoe UI"/>
              </a:defRPr>
            </a:pPr>
            <a:r>
              <a:t>BUSINESS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Segoe UI"/>
              </a:defRPr>
            </a:pPr>
            <a:r>
              <a:t>The Business Problem: Reusable Launch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DC1E1E"/>
          </a:solidFill>
          <a:ln>
            <a:solidFill>
              <a:srgbClr val="DC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Capital Conservation:</a:t>
            </a:r>
            <a:r>
              <a:rPr b="0" sz="1500">
                <a:solidFill>
                  <a:srgbClr val="B9B9B9"/>
                </a:solidFill>
                <a:latin typeface="Segoe UI"/>
              </a:rPr>
              <a:t> Rocket engine recovery preserves ~70% of production value.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Pricing Disruption:</a:t>
            </a:r>
            <a:r>
              <a:rPr b="0" sz="1500">
                <a:solidFill>
                  <a:srgbClr val="B9B9B9"/>
                </a:solidFill>
                <a:latin typeface="Segoe UI"/>
              </a:rPr>
              <a:t> SpaceX offers launch pricing 60%+ lower than conventional expendable providers.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Prediction Utility:</a:t>
            </a:r>
            <a:r>
              <a:rPr b="0" sz="1500">
                <a:solidFill>
                  <a:srgbClr val="B9B9B9"/>
                </a:solidFill>
                <a:latin typeface="Segoe UI"/>
              </a:rPr>
              <a:t> Quantifying landing risk improves business intelligence.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1E1E"/>
                </a:solidFill>
                <a:latin typeface="Segoe UI"/>
              </a:defRPr>
            </a:pPr>
            <a:r>
              <a:t>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Segoe UI"/>
              </a:defRPr>
            </a:pPr>
            <a:r>
              <a:t>Data Ingestion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DC1E1E"/>
          </a:solidFill>
          <a:ln>
            <a:solidFill>
              <a:srgbClr val="DC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REST API Retrieval:</a:t>
            </a:r>
            <a:r>
              <a:rPr b="0" sz="1500">
                <a:solidFill>
                  <a:srgbClr val="B9B9B9"/>
                </a:solidFill>
                <a:latin typeface="Segoe UI"/>
              </a:rPr>
              <a:t> Extracted flight records and mapped nested resource details.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Wikipedia Web Scraping:</a:t>
            </a:r>
            <a:r>
              <a:rPr b="0" sz="1500">
                <a:solidFill>
                  <a:srgbClr val="B9B9B9"/>
                </a:solidFill>
                <a:latin typeface="Segoe UI"/>
              </a:rPr>
              <a:t> Parsed launch tables to cross-reference data.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Data Consolidation:</a:t>
            </a:r>
            <a:r>
              <a:rPr b="0" sz="1500">
                <a:solidFill>
                  <a:srgbClr val="B9B9B9"/>
                </a:solidFill>
                <a:latin typeface="Segoe UI"/>
              </a:rPr>
              <a:t> Normalization in Pandas and export to SQLite.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1E1E"/>
                </a:solidFill>
                <a:latin typeface="Segoe UI"/>
              </a:defRPr>
            </a:pPr>
            <a:r>
              <a:t>DATA WRANGLING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Segoe UI"/>
              </a:defRPr>
            </a:pPr>
            <a:r>
              <a:t>Data Wrangling &amp; Imputation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DC1E1E"/>
          </a:solidFill>
          <a:ln>
            <a:solidFill>
              <a:srgbClr val="DC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Filtering:</a:t>
            </a:r>
            <a:r>
              <a:rPr b="0" sz="1500">
                <a:solidFill>
                  <a:srgbClr val="B9B9B9"/>
                </a:solidFill>
                <a:latin typeface="Segoe UI"/>
              </a:rPr>
              <a:t> Excluded early Falcon 1 flights to establish a uniform 90-flight Falcon 9 dataset.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Imputation:</a:t>
            </a:r>
            <a:r>
              <a:rPr b="0" sz="1500">
                <a:solidFill>
                  <a:srgbClr val="B9B9B9"/>
                </a:solidFill>
                <a:latin typeface="Segoe UI"/>
              </a:rPr>
              <a:t> Calculated mean payload mass ($6,104.96$ kg) to impute missing rows.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Target Labeling:</a:t>
            </a:r>
            <a:r>
              <a:rPr b="0" sz="1500">
                <a:solidFill>
                  <a:srgbClr val="B9B9B9"/>
                </a:solidFill>
                <a:latin typeface="Segoe UI"/>
              </a:rPr>
              <a:t> Engineered binary class variables based on descriptive landing text outcomes.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1E1E"/>
                </a:solidFill>
                <a:latin typeface="Segoe UI"/>
              </a:defRPr>
            </a:pPr>
            <a:r>
              <a:t>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Segoe UI"/>
              </a:defRPr>
            </a:pPr>
            <a:r>
              <a:t>Chart 1: Flight Number vs Launch 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DC1E1E"/>
          </a:solidFill>
          <a:ln>
            <a:solidFill>
              <a:srgbClr val="DC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Observation:</a:t>
            </a:r>
            <a:r>
              <a:rPr b="0" sz="1500">
                <a:solidFill>
                  <a:srgbClr val="B9B9B9"/>
                </a:solidFill>
                <a:latin typeface="Segoe UI"/>
              </a:rPr>
              <a:t> Early launches are centered at CCAFS LC-40.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Technology Maturity:</a:t>
            </a:r>
            <a:r>
              <a:rPr b="0" sz="1500">
                <a:solidFill>
                  <a:srgbClr val="B9B9B9"/>
                </a:solidFill>
                <a:latin typeface="Segoe UI"/>
              </a:rPr>
              <a:t> Launch successes (blue dots) dominate late flights across all locations.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Strategic Insight:</a:t>
            </a:r>
            <a:r>
              <a:rPr b="0" sz="1500">
                <a:solidFill>
                  <a:srgbClr val="B9B9B9"/>
                </a:solidFill>
                <a:latin typeface="Segoe UI"/>
              </a:rPr>
              <a:t> Confirms improvement in recovery procedures over time.</a:t>
            </a:r>
          </a:p>
        </p:txBody>
      </p:sp>
      <p:pic>
        <p:nvPicPr>
          <p:cNvPr id="6" name="Picture 5" descr="flight_vs_launch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1E1E"/>
                </a:solidFill>
                <a:latin typeface="Segoe UI"/>
              </a:defRPr>
            </a:pPr>
            <a:r>
              <a:t>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Segoe UI"/>
              </a:defRPr>
            </a:pPr>
            <a:r>
              <a:t>Chart 2: Payload Mass vs Launch 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DC1E1E"/>
          </a:solidFill>
          <a:ln>
            <a:solidFill>
              <a:srgbClr val="DC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Observation:</a:t>
            </a:r>
            <a:r>
              <a:rPr b="0" sz="1500">
                <a:solidFill>
                  <a:srgbClr val="B9B9B9"/>
                </a:solidFill>
                <a:latin typeface="Segoe UI"/>
              </a:rPr>
              <a:t> Heavy payloads (above 10,000 kg) are launched from Florida sites.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Site Restrictions:</a:t>
            </a:r>
            <a:r>
              <a:rPr b="0" sz="1500">
                <a:solidFill>
                  <a:srgbClr val="B9B9B9"/>
                </a:solidFill>
                <a:latin typeface="Segoe UI"/>
              </a:rPr>
              <a:t> VAFB SLC-4E payloads are consistently capped below 10,000 kg.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Recovery Rationale:</a:t>
            </a:r>
            <a:r>
              <a:rPr b="0" sz="1500">
                <a:solidFill>
                  <a:srgbClr val="B9B9B9"/>
                </a:solidFill>
                <a:latin typeface="Segoe UI"/>
              </a:rPr>
              <a:t> Heavy launches show stable landing success records on later flights.</a:t>
            </a:r>
          </a:p>
        </p:txBody>
      </p:sp>
      <p:pic>
        <p:nvPicPr>
          <p:cNvPr id="6" name="Picture 5" descr="payload_vs_launch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1E1E"/>
                </a:solidFill>
                <a:latin typeface="Segoe UI"/>
              </a:defRPr>
            </a:pPr>
            <a:r>
              <a:t>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Segoe UI"/>
              </a:defRPr>
            </a:pPr>
            <a:r>
              <a:t>Chart 3: Success Rate by Orbit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DC1E1E"/>
          </a:solidFill>
          <a:ln>
            <a:solidFill>
              <a:srgbClr val="DC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High Success Orbits:</a:t>
            </a:r>
            <a:r>
              <a:rPr b="0" sz="1500">
                <a:solidFill>
                  <a:srgbClr val="B9B9B9"/>
                </a:solidFill>
                <a:latin typeface="Segoe UI"/>
              </a:rPr>
              <a:t> ES-L1, GEO, HEO, and SSO maintain a 100% success rate.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High Energy Orbits:</a:t>
            </a:r>
            <a:r>
              <a:rPr b="0" sz="1500">
                <a:solidFill>
                  <a:srgbClr val="B9B9B9"/>
                </a:solidFill>
                <a:latin typeface="Segoe UI"/>
              </a:rPr>
              <a:t> GTO has lower landing success (~50%).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Delta-v limitations:</a:t>
            </a:r>
            <a:r>
              <a:rPr b="0" sz="1500">
                <a:solidFill>
                  <a:srgbClr val="B9B9B9"/>
                </a:solidFill>
                <a:latin typeface="Segoe UI"/>
              </a:rPr>
              <a:t> Higher entry speeds leave less fuel for recovery burns.</a:t>
            </a:r>
          </a:p>
        </p:txBody>
      </p:sp>
      <p:pic>
        <p:nvPicPr>
          <p:cNvPr id="6" name="Picture 5" descr="orbit_success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1E1E"/>
                </a:solidFill>
                <a:latin typeface="Segoe UI"/>
              </a:defRPr>
            </a:pPr>
            <a:r>
              <a:t>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Segoe UI"/>
              </a:defRPr>
            </a:pPr>
            <a:r>
              <a:t>Chart 4: Flight Number vs Orbit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DC1E1E"/>
          </a:solidFill>
          <a:ln>
            <a:solidFill>
              <a:srgbClr val="DC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Trend:</a:t>
            </a:r>
            <a:r>
              <a:rPr b="0" sz="1500">
                <a:solidFill>
                  <a:srgbClr val="B9B9B9"/>
                </a:solidFill>
                <a:latin typeface="Segoe UI"/>
              </a:rPr>
              <a:t> Early flights were targeted at low LEO orbits.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Evolution:</a:t>
            </a:r>
            <a:r>
              <a:rPr b="0" sz="1500">
                <a:solidFill>
                  <a:srgbClr val="B9B9B9"/>
                </a:solidFill>
                <a:latin typeface="Segoe UI"/>
              </a:rPr>
              <a:t> Later flights expanded to high-altitude GTO and polar orbits.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Business growth:</a:t>
            </a:r>
            <a:r>
              <a:rPr b="0" sz="1500">
                <a:solidFill>
                  <a:srgbClr val="B9B9B9"/>
                </a:solidFill>
                <a:latin typeface="Segoe UI"/>
              </a:rPr>
              <a:t> Reflects maturity from ISS cargo hauling to global telecommunication constellations.</a:t>
            </a:r>
          </a:p>
        </p:txBody>
      </p:sp>
      <p:pic>
        <p:nvPicPr>
          <p:cNvPr id="6" name="Picture 5" descr="flight_vs_or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1E1E"/>
                </a:solidFill>
                <a:latin typeface="Segoe UI"/>
              </a:defRPr>
            </a:pPr>
            <a:r>
              <a:t>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Segoe UI"/>
              </a:defRPr>
            </a:pPr>
            <a:r>
              <a:t>Chart 5: Payload Mass vs Orbit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DC1E1E"/>
          </a:solidFill>
          <a:ln>
            <a:solidFill>
              <a:srgbClr val="DC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Mass clusters:</a:t>
            </a:r>
            <a:r>
              <a:rPr b="0" sz="1500">
                <a:solidFill>
                  <a:srgbClr val="B9B9B9"/>
                </a:solidFill>
                <a:latin typeface="Segoe UI"/>
              </a:rPr>
              <a:t> Polar orbits have payload weights clustered near 9,600 kg.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GTO distribution:</a:t>
            </a:r>
            <a:r>
              <a:rPr b="0" sz="1500">
                <a:solidFill>
                  <a:srgbClr val="B9B9B9"/>
                </a:solidFill>
                <a:latin typeface="Segoe UI"/>
              </a:rPr>
              <a:t> Heavy commercial telecom payloads range from 3,000 to 6,000 kg.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LEO variation:</a:t>
            </a:r>
            <a:r>
              <a:rPr b="0" sz="1500">
                <a:solidFill>
                  <a:srgbClr val="B9B9B9"/>
                </a:solidFill>
                <a:latin typeface="Segoe UI"/>
              </a:rPr>
              <a:t> Low-Earth orbit launches carry payload masses up to 15,600 kg.</a:t>
            </a:r>
          </a:p>
        </p:txBody>
      </p:sp>
      <p:pic>
        <p:nvPicPr>
          <p:cNvPr id="6" name="Picture 5" descr="payload_vs_or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1E1E"/>
                </a:solidFill>
                <a:latin typeface="Segoe UI"/>
              </a:defRPr>
            </a:pPr>
            <a:r>
              <a:t>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Segoe UI"/>
              </a:defRPr>
            </a:pPr>
            <a:r>
              <a:t>Chart 6: Launch Success Yearly Trend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DC1E1E"/>
          </a:solidFill>
          <a:ln>
            <a:solidFill>
              <a:srgbClr val="DC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Trend Line:</a:t>
            </a:r>
            <a:r>
              <a:rPr b="0" sz="1500">
                <a:solidFill>
                  <a:srgbClr val="B9B9B9"/>
                </a:solidFill>
                <a:latin typeface="Segoe UI"/>
              </a:rPr>
              <a:t> Rapid growth in success rates after 2015.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Stabilization:</a:t>
            </a:r>
            <a:r>
              <a:rPr b="0" sz="1500">
                <a:solidFill>
                  <a:srgbClr val="B9B9B9"/>
                </a:solidFill>
                <a:latin typeface="Segoe UI"/>
              </a:rPr>
              <a:t> Exceeds 80% success rate by 2020.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Verification:</a:t>
            </a:r>
            <a:r>
              <a:rPr b="0" sz="1500">
                <a:solidFill>
                  <a:srgbClr val="B9B9B9"/>
                </a:solidFill>
                <a:latin typeface="Segoe UI"/>
              </a:rPr>
              <a:t> Confirms booster reuse is economically and technically viable.</a:t>
            </a:r>
          </a:p>
        </p:txBody>
      </p:sp>
      <p:pic>
        <p:nvPicPr>
          <p:cNvPr id="6" name="Picture 5" descr="success_rat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1E1E"/>
                </a:solidFill>
                <a:latin typeface="Segoe UI"/>
              </a:defRPr>
            </a:pPr>
            <a:r>
              <a:t>SQL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Segoe UI"/>
              </a:defRPr>
            </a:pPr>
            <a:r>
              <a:t>SQL Queries: Auditing the Launch Database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DC1E1E"/>
          </a:solidFill>
          <a:ln>
            <a:solidFill>
              <a:srgbClr val="DC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Query 1:</a:t>
            </a:r>
            <a:r>
              <a:rPr b="0" sz="1500">
                <a:solidFill>
                  <a:srgbClr val="B9B9B9"/>
                </a:solidFill>
                <a:latin typeface="Segoe UI"/>
              </a:rPr>
              <a:t> Verified CCAFS, KSC, and VAFB launch pad configurations.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NASA CRS contracts:</a:t>
            </a:r>
            <a:r>
              <a:rPr b="0" sz="1500">
                <a:solidFill>
                  <a:srgbClr val="B9B9B9"/>
                </a:solidFill>
                <a:latin typeface="Segoe UI"/>
              </a:rPr>
              <a:t> Delivered a total of 45,596 kg to the ISS.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Booster versions:</a:t>
            </a:r>
            <a:r>
              <a:rPr b="0" sz="1500">
                <a:solidFill>
                  <a:srgbClr val="B9B9B9"/>
                </a:solidFill>
                <a:latin typeface="Segoe UI"/>
              </a:rPr>
              <a:t> Average payload for F9 v1.1 is 2,928.4 kg.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Max Payload:</a:t>
            </a:r>
            <a:r>
              <a:rPr b="0" sz="1500">
                <a:solidFill>
                  <a:srgbClr val="B9B9B9"/>
                </a:solidFill>
                <a:latin typeface="Segoe UI"/>
              </a:rPr>
              <a:t> Starlink flights carry maximum payloads of 15,600 kg.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1E1E"/>
                </a:solidFill>
                <a:latin typeface="Segoe UI"/>
              </a:defRPr>
            </a:pPr>
            <a:r>
              <a:t>FOLIUM GIS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Segoe UI"/>
              </a:defRPr>
            </a:pPr>
            <a:r>
              <a:t>Geographical Mapping &amp; Proximity Heuristics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DC1E1E"/>
          </a:solidFill>
          <a:ln>
            <a:solidFill>
              <a:srgbClr val="DC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Coastline distance:</a:t>
            </a:r>
            <a:r>
              <a:rPr b="0" sz="1500">
                <a:solidFill>
                  <a:srgbClr val="B9B9B9"/>
                </a:solidFill>
                <a:latin typeface="Segoe UI"/>
              </a:rPr>
              <a:t> 0.58 KM. Placed close to oceans for overwater trajectories.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Highway/Railway proximity:</a:t>
            </a:r>
            <a:r>
              <a:rPr b="0" sz="1500">
                <a:solidFill>
                  <a:srgbClr val="B9B9B9"/>
                </a:solidFill>
                <a:latin typeface="Segoe UI"/>
              </a:rPr>
              <a:t> Located within 1.3 KM to facilitate heavy logistics transport.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City distance:</a:t>
            </a:r>
            <a:r>
              <a:rPr b="0" sz="1500">
                <a:solidFill>
                  <a:srgbClr val="B9B9B9"/>
                </a:solidFill>
                <a:latin typeface="Segoe UI"/>
              </a:rPr>
              <a:t> 18.0 KM. Isolated from residential populations for safety.</a:t>
            </a:r>
          </a:p>
        </p:txBody>
      </p:sp>
      <p:pic>
        <p:nvPicPr>
          <p:cNvPr id="6" name="Picture 5" descr="folium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2666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1E1E"/>
                </a:solidFill>
                <a:latin typeface="Segoe UI"/>
              </a:defRPr>
            </a:pPr>
            <a:r>
              <a:t>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Segoe UI"/>
              </a:defRPr>
            </a:pPr>
            <a:r>
              <a:t>Classifier 1: Logistic Regression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DC1E1E"/>
          </a:solidFill>
          <a:ln>
            <a:solidFill>
              <a:srgbClr val="DC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Tuning Grid:</a:t>
            </a:r>
            <a:r>
              <a:rPr b="0" sz="1500">
                <a:solidFill>
                  <a:srgbClr val="B9B9B9"/>
                </a:solidFill>
                <a:latin typeface="Segoe UI"/>
              </a:rPr>
              <a:t> Regularization C and L2 solver optimization.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Best Parameters:</a:t>
            </a:r>
            <a:r>
              <a:rPr b="0" sz="1500">
                <a:solidFill>
                  <a:srgbClr val="B9B9B9"/>
                </a:solidFill>
                <a:latin typeface="Segoe UI"/>
              </a:rPr>
              <a:t> {'C': 0.01, 'penalty': 'l2', 'solver': 'lbfgs'}.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Performance:</a:t>
            </a:r>
            <a:r>
              <a:rPr b="0" sz="1500">
                <a:solidFill>
                  <a:srgbClr val="B9B9B9"/>
                </a:solidFill>
                <a:latin typeface="Segoe UI"/>
              </a:rPr>
              <a:t> Test Accuracy of 83.33%.</a:t>
            </a:r>
          </a:p>
        </p:txBody>
      </p:sp>
      <p:pic>
        <p:nvPicPr>
          <p:cNvPr id="6" name="Picture 5" descr="cm_l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1E1E"/>
                </a:solidFill>
                <a:latin typeface="Segoe UI"/>
              </a:defRPr>
            </a:pPr>
            <a:r>
              <a:t>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Segoe UI"/>
              </a:defRPr>
            </a:pPr>
            <a:r>
              <a:t>Classifier 2: Support Vector Machine (SVM)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DC1E1E"/>
          </a:solidFill>
          <a:ln>
            <a:solidFill>
              <a:srgbClr val="DC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Tuning Grid:</a:t>
            </a:r>
            <a:r>
              <a:rPr b="0" sz="1500">
                <a:solidFill>
                  <a:srgbClr val="B9B9B9"/>
                </a:solidFill>
                <a:latin typeface="Segoe UI"/>
              </a:rPr>
              <a:t> Regularization, kernel (linear, rbf, sigmoid) and gamma scaling.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Best Parameters:</a:t>
            </a:r>
            <a:r>
              <a:rPr b="0" sz="1500">
                <a:solidFill>
                  <a:srgbClr val="B9B9B9"/>
                </a:solidFill>
                <a:latin typeface="Segoe UI"/>
              </a:rPr>
              <a:t> {'C': 1.0, 'gamma': 0.0316, 'kernel': 'sigmoid'}.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Performance:</a:t>
            </a:r>
            <a:r>
              <a:rPr b="0" sz="1500">
                <a:solidFill>
                  <a:srgbClr val="B9B9B9"/>
                </a:solidFill>
                <a:latin typeface="Segoe UI"/>
              </a:rPr>
              <a:t> Test Accuracy of 83.33%.</a:t>
            </a:r>
          </a:p>
        </p:txBody>
      </p:sp>
      <p:pic>
        <p:nvPicPr>
          <p:cNvPr id="6" name="Picture 5" descr="cm_s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1E1E"/>
                </a:solidFill>
                <a:latin typeface="Segoe UI"/>
              </a:defRPr>
            </a:pPr>
            <a:r>
              <a:t>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Segoe UI"/>
              </a:defRPr>
            </a:pPr>
            <a:r>
              <a:t>Classifier 3: Decision Tree Classifier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DC1E1E"/>
          </a:solidFill>
          <a:ln>
            <a:solidFill>
              <a:srgbClr val="DC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Tuning Grid:</a:t>
            </a:r>
            <a:r>
              <a:rPr b="0" sz="1500">
                <a:solidFill>
                  <a:srgbClr val="B9B9B9"/>
                </a:solidFill>
                <a:latin typeface="Segoe UI"/>
              </a:rPr>
              <a:t> Criterion, max depth, splitter, and sample leaf limits.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Best Parameters:</a:t>
            </a:r>
            <a:r>
              <a:rPr b="0" sz="1500">
                <a:solidFill>
                  <a:srgbClr val="B9B9B9"/>
                </a:solidFill>
                <a:latin typeface="Segoe UI"/>
              </a:rPr>
              <a:t> {'criterion': 'gini', 'max_depth': 6, 'max_features': 'sqrt', 'min_samples_leaf': 1, 'min_samples_split': 10, 'splitter': 'random'}.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Performance:</a:t>
            </a:r>
            <a:r>
              <a:rPr b="0" sz="1500">
                <a:solidFill>
                  <a:srgbClr val="B9B9B9"/>
                </a:solidFill>
                <a:latin typeface="Segoe UI"/>
              </a:rPr>
              <a:t> Test Accuracy of 77.78% (indicates overfitting).</a:t>
            </a:r>
          </a:p>
        </p:txBody>
      </p:sp>
      <p:pic>
        <p:nvPicPr>
          <p:cNvPr id="6" name="Picture 5" descr="cm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1E1E"/>
                </a:solidFill>
                <a:latin typeface="Segoe UI"/>
              </a:defRPr>
            </a:pPr>
            <a:r>
              <a:t>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Segoe UI"/>
              </a:defRPr>
            </a:pPr>
            <a:r>
              <a:t>Classifier 4: K-Nearest Neighbors (KNN)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DC1E1E"/>
          </a:solidFill>
          <a:ln>
            <a:solidFill>
              <a:srgbClr val="DC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Tuning Grid:</a:t>
            </a:r>
            <a:r>
              <a:rPr b="0" sz="1500">
                <a:solidFill>
                  <a:srgbClr val="B9B9B9"/>
                </a:solidFill>
                <a:latin typeface="Segoe UI"/>
              </a:rPr>
              <a:t> Neighbor size, search algorithm, and distance metric.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Best Parameters:</a:t>
            </a:r>
            <a:r>
              <a:rPr b="0" sz="1500">
                <a:solidFill>
                  <a:srgbClr val="B9B9B9"/>
                </a:solidFill>
                <a:latin typeface="Segoe UI"/>
              </a:rPr>
              <a:t> {'algorithm': 'auto', 'n_neighbors': 10, 'p': 1}.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Performance:</a:t>
            </a:r>
            <a:r>
              <a:rPr b="0" sz="1500">
                <a:solidFill>
                  <a:srgbClr val="B9B9B9"/>
                </a:solidFill>
                <a:latin typeface="Segoe UI"/>
              </a:rPr>
              <a:t> Test Accuracy of 83.33%.</a:t>
            </a:r>
          </a:p>
        </p:txBody>
      </p:sp>
      <p:pic>
        <p:nvPicPr>
          <p:cNvPr id="6" name="Picture 5" descr="cm_k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1E1E"/>
                </a:solidFill>
                <a:latin typeface="Segoe UI"/>
              </a:defRPr>
            </a:pPr>
            <a:r>
              <a:t>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Segoe UI"/>
              </a:defRPr>
            </a:pPr>
            <a:r>
              <a:t>Model Accuracy Performance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DC1E1E"/>
          </a:solidFill>
          <a:ln>
            <a:solidFill>
              <a:srgbClr val="DC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Validation Accuracy:</a:t>
            </a:r>
            <a:r>
              <a:rPr b="0" sz="1500">
                <a:solidFill>
                  <a:srgbClr val="B9B9B9"/>
                </a:solidFill>
                <a:latin typeface="Segoe UI"/>
              </a:rPr>
              <a:t> Decision Tree scored highest on training folds (87.50%).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Test Performance:</a:t>
            </a:r>
            <a:r>
              <a:rPr b="0" sz="1500">
                <a:solidFill>
                  <a:srgbClr val="B9B9B9"/>
                </a:solidFill>
                <a:latin typeface="Segoe UI"/>
              </a:rPr>
              <a:t> LR, SVM, and KNN tied at 83.33% accuracy.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Selection:</a:t>
            </a:r>
            <a:r>
              <a:rPr b="0" sz="1500">
                <a:solidFill>
                  <a:srgbClr val="B9B9B9"/>
                </a:solidFill>
                <a:latin typeface="Segoe UI"/>
              </a:rPr>
              <a:t> SVM is selected due to its optimal margin boundaries.</a:t>
            </a:r>
          </a:p>
        </p:txBody>
      </p:sp>
      <p:pic>
        <p:nvPicPr>
          <p:cNvPr id="6" name="Picture 5" descr="model_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12724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1E1E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Segoe UI"/>
              </a:defRPr>
            </a:pPr>
            <a:r>
              <a:t>Strategic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DC1E1E"/>
          </a:solidFill>
          <a:ln>
            <a:solidFill>
              <a:srgbClr val="DC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Bidding Strategy:</a:t>
            </a:r>
            <a:r>
              <a:rPr b="0" sz="1500">
                <a:solidFill>
                  <a:srgbClr val="B9B9B9"/>
                </a:solidFill>
                <a:latin typeface="Segoe UI"/>
              </a:rPr>
              <a:t> Leverage recovery probabilities to adjust launch bids.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Insurance Risk:</a:t>
            </a:r>
            <a:r>
              <a:rPr b="0" sz="1500">
                <a:solidFill>
                  <a:srgbClr val="B9B9B9"/>
                </a:solidFill>
                <a:latin typeface="Segoe UI"/>
              </a:rPr>
              <a:t> Adjust GTO premiums due to lower landing success margins (~50%).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5F5F5"/>
                </a:solidFill>
                <a:latin typeface="Segoe UI"/>
              </a:rPr>
              <a:t>• Future Enhancements:</a:t>
            </a:r>
            <a:r>
              <a:rPr b="0" sz="1500">
                <a:solidFill>
                  <a:srgbClr val="B9B9B9"/>
                </a:solidFill>
                <a:latin typeface="Segoe UI"/>
              </a:rPr>
              <a:t> Incorporate atmospheric wind telemetry to refine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